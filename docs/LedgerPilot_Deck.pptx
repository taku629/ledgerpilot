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16x9"/>
  <p:notesSz cx="6858000" cy="9144000"/>
  <p:embeddedFontLst>
    <p:embeddedFont>
      <p:font typeface="Montserrat" charset="1"/>
      <p:regular r:id="rId24"/>
    </p:embeddedFont>
    <p:embeddedFont>
      <p:font typeface="Montserrat Bold" charset="1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font" Target="fonts/font1.fntdata"/><Relationship Id="rId25" Type="http://schemas.openxmlformats.org/officeDocument/2006/relationships/font" Target="fonts/font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 pitch: an agent that forecasts cash, explains it, finds financing and executes actions behind an approval gate. All data is synthetic (Harbor &amp; Bean Roasters).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Existing tools are dashboards that show data. Nothing does the task. And AI agents are not yet trusted with money.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Forecast: 13-week projection and alerts. Explain: P/L, margins, DSO/DPO/DIO and drivers. Match: 10 financing products scored against the gap. Execute: sandbox reschedule or record payment after owner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LightGBM wins on all 4 scorable categories: POS 2.3 vs 2.8, Online 7.5 vs 8.5, Supplies 13.3 vs 15.0, Packaging 9.9 vs 13.1 WAPE. P10-P90 band coverage 75-87.5% on held-out weeks (ideal 80%). The LLM never predicts.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can only request a tool call. Server checks the tier on every call. Tier 2 creates a pending action; the owner clicks Approve (single-use token, 300 s TTL, $50k cap); then execute and write the audit log. Tier 3 real money is disabled.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Scanned on ingest, wrapped as inert data, alert raised. It can never mint an approval: tokens come from owner clicks only. A legitimate user request to pay the landlord still works, approved and logged.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Then show the INJECTION_ATTEMPT alert and its evidence modal. Demo: ledgerpilot-7k6f.onrender.com (cold start up to 60 s; open before the talk).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FastAPI, pandas, LightGBM, vanilla JS, Docker. Repo has README, technical doc, security self-assessment, evidence JSONL and judge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434145"/>
            <a:ext cx="4633337" cy="349385"/>
          </a:xfrm>
          <a:prstGeom prst="roundRect">
            <a:avLst>
              <a:gd name="adj" fmla="val 12000"/>
            </a:avLst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508211"/>
            <a:ext cx="4304153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1200" b="1" spc="160">
                <a:solidFill>
                  <a:srgbClr val="000000"/>
                </a:solidFill>
                <a:latin typeface="Montserrat"/>
                <a:cs typeface="Montserrat"/>
                <a:sym typeface="Montserrat"/>
              </a:rPr>
              <a:t>SHENZHEN FINTECHATHON 2026 · TOPIC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94426"/>
            <a:ext cx="9570232" cy="133453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8400" b="0">
                <a:solidFill>
                  <a:srgbClr val="0B0B0C"/>
                </a:solidFill>
                <a:latin typeface="Montserrat Bold"/>
                <a:cs typeface="Montserrat Bold"/>
                <a:sym typeface="Montserrat Bold"/>
              </a:rPr>
              <a:t>LedgerPilot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557681"/>
            <a:ext cx="6742664" cy="100006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2880"/>
              </a:lnSpc>
            </a:pPr>
            <a:r>
              <a:rPr sz="2200" b="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The SME finance copilot that finishes the task safely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49812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GITHUB.COM/TAKU629/LEDGERPILOT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5568" y="960120"/>
            <a:ext cx="4937760" cy="4937760"/>
          </a:xfrm>
          <a:prstGeom prst="rect">
            <a:avLst/>
          </a:prstGeom>
          <a:gradFill rotWithShape="1">
            <a:gsLst>
              <a:gs pos="0">
                <a:srgbClr val="D1E7FE"/>
              </a:gs>
              <a:gs pos="100000">
                <a:srgbClr val="FFFFFF"/>
              </a:gs>
            </a:gsLst>
            <a:lin scaled="0" ang="12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1200" b="1" spc="160">
                <a:solidFill>
                  <a:srgbClr val="000000"/>
                </a:solidFill>
                <a:latin typeface="Montserrat"/>
                <a:cs typeface="Montserrat"/>
                <a:sym typeface="Montserrat"/>
              </a:rPr>
              <a:t>LEDGERPILOT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992" y="6449812"/>
            <a:ext cx="548640" cy="22585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000000"/>
                </a:solidFill>
                <a:latin typeface="Montserrat"/>
                <a:cs typeface="Montserrat"/>
                <a:sym typeface="Montserra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000000"/>
                </a:solidFill>
                <a:latin typeface="Montserrat"/>
                <a:cs typeface="Montserrat"/>
                <a:sym typeface="Montserrat"/>
              </a:rPr>
              <a:t>GITHUB.COM/TAKU629/LEDGERPILOT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81394"/>
            <a:ext cx="8917716" cy="120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600" b="0">
                <a:solidFill>
                  <a:srgbClr val="FFFFFF"/>
                </a:solidFill>
                <a:latin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868567"/>
            <a:ext cx="8917716" cy="8565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5200" b="0">
                <a:solidFill>
                  <a:srgbClr val="FFFFFF"/>
                </a:solidFill>
                <a:latin typeface="Montserrat Bold"/>
                <a:cs typeface="Montserrat Bold"/>
                <a:sym typeface="Montserrat Bold"/>
              </a:rPr>
              <a:t>The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5568" y="960120"/>
            <a:ext cx="4937760" cy="4937760"/>
          </a:xfrm>
          <a:prstGeom prst="rect">
            <a:avLst/>
          </a:prstGeom>
          <a:gradFill rotWithShape="1">
            <a:gsLst>
              <a:gs pos="0">
                <a:srgbClr val="D1E7FE"/>
              </a:gs>
              <a:gs pos="100000">
                <a:srgbClr val="FFFFFF"/>
              </a:gs>
            </a:gsLst>
            <a:lin scaled="0" ang="12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58368" y="1433596"/>
            <a:ext cx="1005840" cy="25603"/>
          </a:xfrm>
          <a:prstGeom prst="rect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LEDGERPILOT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992" y="6449812"/>
            <a:ext cx="548640" cy="22585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GITHUB.COM/TAKU629/LEDGERPILOT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44492"/>
            <a:ext cx="8917716" cy="25695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5200" b="0">
                <a:solidFill>
                  <a:srgbClr val="0B0B0C"/>
                </a:solidFill>
                <a:latin typeface="Montserrat Bold"/>
                <a:cs typeface="Montserrat Bold"/>
                <a:sym typeface="Montserrat Bold"/>
              </a:rPr>
              <a:t>Most small-business owners are their own finance team.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236257"/>
            <a:ext cx="5981395" cy="100006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2880"/>
              </a:lnSpc>
            </a:pPr>
            <a:r>
              <a:rPr sz="2200" b="1">
                <a:solidFill>
                  <a:srgbClr val="0077FC"/>
                </a:solidFill>
                <a:latin typeface="Montserrat"/>
                <a:cs typeface="Montserrat"/>
                <a:sym typeface="Montserrat"/>
              </a:rPr>
              <a:t>Cash surprises</a:t>
            </a:r>
            <a:r>
              <a:rPr sz="2200" b="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 sink them more often than lack of profit.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5568" y="960120"/>
            <a:ext cx="4937760" cy="4937760"/>
          </a:xfrm>
          <a:prstGeom prst="rect">
            <a:avLst/>
          </a:prstGeom>
          <a:gradFill rotWithShape="1">
            <a:gsLst>
              <a:gs pos="0">
                <a:srgbClr val="D1E7FE"/>
              </a:gs>
              <a:gs pos="100000">
                <a:srgbClr val="FFFFFF"/>
              </a:gs>
            </a:gsLst>
            <a:lin scaled="0" ang="12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58368" y="2073470"/>
            <a:ext cx="1347622" cy="25603"/>
          </a:xfrm>
          <a:prstGeom prst="rect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411472" y="2073470"/>
            <a:ext cx="1347622" cy="25603"/>
          </a:xfrm>
          <a:prstGeom prst="rect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164576" y="2073470"/>
            <a:ext cx="1347622" cy="25603"/>
          </a:xfrm>
          <a:prstGeom prst="rect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LEDGERPILOT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992" y="6449812"/>
            <a:ext cx="548640" cy="22585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GITHUB.COM/TAKU629/LEDGERPILOT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38177"/>
            <a:ext cx="7830190" cy="7118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0112"/>
              </a:lnSpc>
            </a:pPr>
            <a:r>
              <a:rPr sz="4400" b="0">
                <a:solidFill>
                  <a:srgbClr val="0B0B0C"/>
                </a:solidFill>
                <a:latin typeface="Montserrat Bold"/>
                <a:cs typeface="Montserrat Bold"/>
                <a:sym typeface="Montserrat Bold"/>
              </a:rPr>
              <a:t>The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74638"/>
            <a:ext cx="3369056" cy="61180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3100" b="0">
                <a:solidFill>
                  <a:srgbClr val="0B0B0C"/>
                </a:solidFill>
                <a:latin typeface="Montserrat Bold"/>
                <a:cs typeface="Montserrat Bold"/>
                <a:sym typeface="Montserrat Bold"/>
              </a:rPr>
              <a:t>Dashboards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66174"/>
            <a:ext cx="3369056" cy="325315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9434"/>
              </a:lnSpc>
            </a:pPr>
            <a:r>
              <a:rPr sz="2790" b="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Show the numbers. Leave every decision and action to the owner.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1472" y="2274638"/>
            <a:ext cx="3369056" cy="61180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3100" b="0">
                <a:solidFill>
                  <a:srgbClr val="0B0B0C"/>
                </a:solidFill>
                <a:latin typeface="Montserrat Bold"/>
                <a:cs typeface="Montserrat Bold"/>
                <a:sym typeface="Montserrat Bold"/>
              </a:rPr>
              <a:t>Raw AI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1472" y="2866174"/>
            <a:ext cx="3369056" cy="26025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9434"/>
              </a:lnSpc>
            </a:pPr>
            <a:r>
              <a:rPr sz="2790" b="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Can act, but </a:t>
            </a:r>
            <a:r>
              <a:rPr sz="2790" b="1">
                <a:solidFill>
                  <a:srgbClr val="E5484D"/>
                </a:solidFill>
                <a:latin typeface="Montserrat"/>
                <a:cs typeface="Montserrat"/>
                <a:sym typeface="Montserrat"/>
              </a:rPr>
              <a:t>invent figures</a:t>
            </a:r>
            <a:r>
              <a:rPr sz="2790" b="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 and obey </a:t>
            </a:r>
            <a:r>
              <a:rPr sz="2790" b="1">
                <a:solidFill>
                  <a:srgbClr val="E5484D"/>
                </a:solidFill>
                <a:latin typeface="Montserrat"/>
                <a:cs typeface="Montserrat"/>
                <a:sym typeface="Montserrat"/>
              </a:rPr>
              <a:t>injected text</a:t>
            </a:r>
            <a:r>
              <a:rPr sz="2790" b="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4576" y="2274638"/>
            <a:ext cx="3369056" cy="61180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3100" b="0">
                <a:solidFill>
                  <a:srgbClr val="0B0B0C"/>
                </a:solidFill>
                <a:latin typeface="Montserrat Bold"/>
                <a:cs typeface="Montserrat Bold"/>
                <a:sym typeface="Montserrat Bold"/>
              </a:rPr>
              <a:t>LedgerPilot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4576" y="2866174"/>
            <a:ext cx="3369056" cy="26025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9434"/>
              </a:lnSpc>
            </a:pPr>
            <a:r>
              <a:rPr sz="2790" b="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Completes the task, and </a:t>
            </a:r>
            <a:r>
              <a:rPr sz="2790" b="1">
                <a:solidFill>
                  <a:srgbClr val="0077FC"/>
                </a:solidFill>
                <a:latin typeface="Montserrat"/>
                <a:cs typeface="Montserrat"/>
                <a:sym typeface="Montserrat"/>
              </a:rPr>
              <a:t>every money move</a:t>
            </a:r>
            <a:r>
              <a:rPr sz="2790" b="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 waits for the owner.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5568" y="960120"/>
            <a:ext cx="4937760" cy="4937760"/>
          </a:xfrm>
          <a:prstGeom prst="rect">
            <a:avLst/>
          </a:prstGeom>
          <a:gradFill rotWithShape="1">
            <a:gsLst>
              <a:gs pos="0">
                <a:srgbClr val="D1E7FE"/>
              </a:gs>
              <a:gs pos="100000">
                <a:srgbClr val="FFFFFF"/>
              </a:gs>
            </a:gsLst>
            <a:lin scaled="0" ang="12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1200" b="1" spc="160">
                <a:solidFill>
                  <a:srgbClr val="000000"/>
                </a:solidFill>
                <a:latin typeface="Montserrat"/>
                <a:cs typeface="Montserrat"/>
                <a:sym typeface="Montserrat"/>
              </a:rPr>
              <a:t>LEDGERPILOT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992" y="6449812"/>
            <a:ext cx="548640" cy="22585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000000"/>
                </a:solidFill>
                <a:latin typeface="Montserrat"/>
                <a:cs typeface="Montserrat"/>
                <a:sym typeface="Montserrat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000000"/>
                </a:solidFill>
                <a:latin typeface="Montserrat"/>
                <a:cs typeface="Montserrat"/>
                <a:sym typeface="Montserrat"/>
              </a:rPr>
              <a:t>GITHUB.COM/TAKU629/LEDGERPILOT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81394"/>
            <a:ext cx="8917716" cy="120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600" b="0">
                <a:solidFill>
                  <a:srgbClr val="FFFFFF"/>
                </a:solidFill>
                <a:latin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868567"/>
            <a:ext cx="8917716" cy="8565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5200" b="0">
                <a:solidFill>
                  <a:srgbClr val="FFFFFF"/>
                </a:solidFill>
                <a:latin typeface="Montserrat Bold"/>
                <a:cs typeface="Montserrat Bold"/>
                <a:sym typeface="Montserrat Bold"/>
              </a:rPr>
              <a:t>What it does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img-83itw6ri.png"/>
          <p:cNvPicPr>
            <a:picLocks noChangeAspect="1"/>
          </p:cNvPicPr>
          <p:nvPr/>
        </p:nvPicPr>
        <p:blipFill>
          <a:blip r:embed="rId2"/>
          <a:srcRect t="4" b="4"/>
          <a:stretch>
            <a:fillRect/>
          </a:stretch>
        </p:blipFill>
        <p:spPr>
          <a:xfrm>
            <a:off x="6583680" y="0"/>
            <a:ext cx="560832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LEDGERPILOT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84992" y="6449812"/>
            <a:ext cx="548640" cy="22585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FFFFFF"/>
                </a:solidFill>
                <a:latin typeface="Montserrat"/>
                <a:cs typeface="Montserrat"/>
                <a:sym typeface="Montserrat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0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FFFFFF"/>
                </a:solidFill>
                <a:latin typeface="Montserrat"/>
                <a:cs typeface="Montserrat"/>
                <a:sym typeface="Montserrat"/>
              </a:rPr>
              <a:t>GITHUB.COM/TAKU629/LEDGERPILOT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341821"/>
            <a:ext cx="5266944" cy="142362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0112"/>
              </a:lnSpc>
            </a:pPr>
            <a:r>
              <a:rPr sz="4400" b="0">
                <a:solidFill>
                  <a:srgbClr val="0B0B0C"/>
                </a:solidFill>
                <a:latin typeface="Montserrat Bold"/>
                <a:cs typeface="Montserrat Bold"/>
                <a:sym typeface="Montserrat Bold"/>
              </a:rPr>
              <a:t>Chat in, task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755206"/>
            <a:ext cx="5266944" cy="86750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9434"/>
              </a:lnSpc>
            </a:pPr>
            <a:r>
              <a:rPr sz="1800" b="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Forecast, explain, match, then execute with approval.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5568" y="960120"/>
            <a:ext cx="4937760" cy="4937760"/>
          </a:xfrm>
          <a:prstGeom prst="rect">
            <a:avLst/>
          </a:prstGeom>
          <a:gradFill rotWithShape="1">
            <a:gsLst>
              <a:gs pos="0">
                <a:srgbClr val="D1E7FE"/>
              </a:gs>
              <a:gs pos="100000">
                <a:srgbClr val="FFFFFF"/>
              </a:gs>
            </a:gsLst>
            <a:lin scaled="0" ang="12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506175" y="2552332"/>
            <a:ext cx="5862393" cy="449801"/>
          </a:xfrm>
          <a:prstGeom prst="rect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506175" y="3530161"/>
            <a:ext cx="6611722" cy="449801"/>
          </a:xfrm>
          <a:prstGeom prst="rect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506175" y="4507989"/>
            <a:ext cx="4363736" cy="449801"/>
          </a:xfrm>
          <a:prstGeom prst="rect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506175" y="5485817"/>
            <a:ext cx="5774237" cy="449801"/>
          </a:xfrm>
          <a:prstGeom prst="rect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495203" y="2288319"/>
            <a:ext cx="10973" cy="3911313"/>
          </a:xfrm>
          <a:prstGeom prst="rect">
            <a:avLst/>
          </a:prstGeom>
          <a:solidFill>
            <a:srgbClr val="606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LEDGERPILOT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84992" y="6449812"/>
            <a:ext cx="548640" cy="22585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GITHUB.COM/TAKU629/LEDGERPILOT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58368"/>
            <a:ext cx="7177674" cy="7118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0112"/>
              </a:lnSpc>
            </a:pPr>
            <a:r>
              <a:rPr sz="4400" b="0">
                <a:solidFill>
                  <a:srgbClr val="0B0B0C"/>
                </a:solidFill>
                <a:latin typeface="Montserrat Bold"/>
                <a:cs typeface="Montserrat Bold"/>
                <a:sym typeface="Montserrat Bold"/>
              </a:rPr>
              <a:t>Beats the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447357"/>
            <a:ext cx="6090148" cy="50003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2880"/>
              </a:lnSpc>
            </a:pPr>
            <a:r>
              <a:rPr sz="2200" b="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Backtest WAPE, </a:t>
            </a:r>
            <a:r>
              <a:rPr sz="2200" b="1">
                <a:solidFill>
                  <a:srgbClr val="0077FC"/>
                </a:solidFill>
                <a:latin typeface="Montserrat"/>
                <a:cs typeface="Montserrat"/>
                <a:sym typeface="Montserrat"/>
              </a:rPr>
              <a:t>lower is better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441813"/>
            <a:ext cx="2610063" cy="76475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2000" b="0">
                <a:solidFill>
                  <a:srgbClr val="0B0B0C"/>
                </a:solidFill>
                <a:latin typeface="Montserrat Bold"/>
                <a:cs typeface="Montserrat Bold"/>
                <a:sym typeface="Montserrat Bold"/>
              </a:rPr>
              <a:t>Supplies · LightGBM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353" y="2609523"/>
            <a:ext cx="1196279" cy="3823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2000" b="0">
                <a:solidFill>
                  <a:srgbClr val="0B0B0C"/>
                </a:solidFill>
                <a:latin typeface="Montserrat Bold"/>
                <a:cs typeface="Montserrat Bold"/>
                <a:sym typeface="Montserrat Bold"/>
              </a:rPr>
              <a:t>13.3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587351"/>
            <a:ext cx="2610063" cy="3823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2000" b="0">
                <a:solidFill>
                  <a:srgbClr val="0B0B0C"/>
                </a:solidFill>
                <a:latin typeface="Montserrat Bold"/>
                <a:cs typeface="Montserrat Bold"/>
                <a:sym typeface="Montserrat Bold"/>
              </a:rPr>
              <a:t>Supplies · naive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353" y="3587351"/>
            <a:ext cx="1196279" cy="3823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2000" b="0">
                <a:solidFill>
                  <a:srgbClr val="0B0B0C"/>
                </a:solidFill>
                <a:latin typeface="Montserrat Bold"/>
                <a:cs typeface="Montserrat Bold"/>
                <a:sym typeface="Montserrat Bold"/>
              </a:rPr>
              <a:t>15.0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397470"/>
            <a:ext cx="2610063" cy="76475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2000" b="0">
                <a:solidFill>
                  <a:srgbClr val="0B0B0C"/>
                </a:solidFill>
                <a:latin typeface="Montserrat Bold"/>
                <a:cs typeface="Montserrat Bold"/>
                <a:sym typeface="Montserrat Bold"/>
              </a:rPr>
              <a:t>Packaging · LightGBM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7353" y="4565180"/>
            <a:ext cx="1196279" cy="3823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2000" b="0">
                <a:solidFill>
                  <a:srgbClr val="0B0B0C"/>
                </a:solidFill>
                <a:latin typeface="Montserrat Bold"/>
                <a:cs typeface="Montserrat Bold"/>
                <a:sym typeface="Montserrat Bold"/>
              </a:rPr>
              <a:t>9.9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543008"/>
            <a:ext cx="2610063" cy="3823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2000" b="0">
                <a:solidFill>
                  <a:srgbClr val="0B0B0C"/>
                </a:solidFill>
                <a:latin typeface="Montserrat Bold"/>
                <a:cs typeface="Montserrat Bold"/>
                <a:sym typeface="Montserrat Bold"/>
              </a:rPr>
              <a:t>Packaging · naive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7353" y="5543008"/>
            <a:ext cx="1196279" cy="3823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2000" b="0">
                <a:solidFill>
                  <a:srgbClr val="0B0B0C"/>
                </a:solidFill>
                <a:latin typeface="Montserrat Bold"/>
                <a:cs typeface="Montserrat Bold"/>
                <a:sym typeface="Montserrat Bold"/>
              </a:rPr>
              <a:t>13.1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5568" y="960120"/>
            <a:ext cx="4937760" cy="4937760"/>
          </a:xfrm>
          <a:prstGeom prst="rect">
            <a:avLst/>
          </a:prstGeom>
          <a:gradFill rotWithShape="1">
            <a:gsLst>
              <a:gs pos="0">
                <a:srgbClr val="D1E7FE"/>
              </a:gs>
              <a:gs pos="100000">
                <a:srgbClr val="FFFFFF"/>
              </a:gs>
            </a:gsLst>
            <a:lin scaled="0" ang="12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58368" y="2574094"/>
            <a:ext cx="1081999" cy="25603"/>
          </a:xfrm>
          <a:prstGeom prst="rect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405376" y="2574094"/>
            <a:ext cx="1081999" cy="25603"/>
          </a:xfrm>
          <a:prstGeom prst="rect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152384" y="2574094"/>
            <a:ext cx="1081999" cy="25603"/>
          </a:xfrm>
          <a:prstGeom prst="rect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LEDGERPILOT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992" y="6449812"/>
            <a:ext cx="548640" cy="22585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GITHUB.COM/TAKU629/LEDGERPILOT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10785"/>
            <a:ext cx="7830190" cy="7118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0112"/>
              </a:lnSpc>
            </a:pPr>
            <a:r>
              <a:rPr sz="4400" b="0">
                <a:solidFill>
                  <a:srgbClr val="0B0B0C"/>
                </a:solidFill>
                <a:latin typeface="Montserrat Bold"/>
                <a:cs typeface="Montserrat Bold"/>
                <a:sym typeface="Montserrat Bold"/>
              </a:rPr>
              <a:t>Forecasts you can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93550"/>
            <a:ext cx="3381248" cy="24148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600" b="0">
                <a:solidFill>
                  <a:srgbClr val="0077FC"/>
                </a:solidFill>
                <a:latin typeface="Montserrat Bold"/>
                <a:cs typeface="Montserrat Bold"/>
                <a:sym typeface="Montserrat Bold"/>
              </a:rPr>
              <a:t>4/4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966729"/>
            <a:ext cx="3381248" cy="4337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9434"/>
              </a:lnSpc>
            </a:pPr>
            <a:r>
              <a:rPr sz="1800" b="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Categories won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5376" y="2793550"/>
            <a:ext cx="3381248" cy="24148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600" b="0">
                <a:solidFill>
                  <a:srgbClr val="0077FC"/>
                </a:solidFill>
                <a:latin typeface="Montserrat Bold"/>
                <a:cs typeface="Montserrat Bold"/>
                <a:sym typeface="Montserrat Bold"/>
              </a:rPr>
              <a:t>13 wk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5376" y="4966729"/>
            <a:ext cx="3381248" cy="4337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9434"/>
              </a:lnSpc>
            </a:pPr>
            <a:r>
              <a:rPr sz="1800" b="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Cash horizon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2384" y="2793550"/>
            <a:ext cx="3381248" cy="24148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600" b="0">
                <a:solidFill>
                  <a:srgbClr val="0077FC"/>
                </a:solidFill>
                <a:latin typeface="Montserrat Bold"/>
                <a:cs typeface="Montserrat Bold"/>
                <a:sym typeface="Montserrat Bold"/>
              </a:rPr>
              <a:t>75–88%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2384" y="4966729"/>
            <a:ext cx="3381248" cy="4337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9434"/>
              </a:lnSpc>
            </a:pPr>
            <a:r>
              <a:rPr sz="1800" b="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Band coverage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5568" y="960120"/>
            <a:ext cx="4937760" cy="4937760"/>
          </a:xfrm>
          <a:prstGeom prst="rect">
            <a:avLst/>
          </a:prstGeom>
          <a:gradFill rotWithShape="1">
            <a:gsLst>
              <a:gs pos="0">
                <a:srgbClr val="D1E7FE"/>
              </a:gs>
              <a:gs pos="100000">
                <a:srgbClr val="FFFFFF"/>
              </a:gs>
            </a:gsLst>
            <a:lin scaled="0" ang="12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1200" b="1" spc="160">
                <a:solidFill>
                  <a:srgbClr val="000000"/>
                </a:solidFill>
                <a:latin typeface="Montserrat"/>
                <a:cs typeface="Montserrat"/>
                <a:sym typeface="Montserrat"/>
              </a:rPr>
              <a:t>LEDGERPILOT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992" y="6449812"/>
            <a:ext cx="548640" cy="22585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000000"/>
                </a:solidFill>
                <a:latin typeface="Montserrat"/>
                <a:cs typeface="Montserrat"/>
                <a:sym typeface="Montserrat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000000"/>
                </a:solidFill>
                <a:latin typeface="Montserrat"/>
                <a:cs typeface="Montserrat"/>
                <a:sym typeface="Montserrat"/>
              </a:rPr>
              <a:t>GITHUB.COM/TAKU629/LEDGERPILOT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81394"/>
            <a:ext cx="8917716" cy="120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600" b="0">
                <a:solidFill>
                  <a:srgbClr val="FFFFFF"/>
                </a:solidFill>
                <a:latin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868567"/>
            <a:ext cx="8917716" cy="8565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5200" b="0">
                <a:solidFill>
                  <a:srgbClr val="FFFFFF"/>
                </a:solidFill>
                <a:latin typeface="Montserrat Bold"/>
                <a:cs typeface="Montserrat Bold"/>
                <a:sym typeface="Montserrat Bold"/>
              </a:rPr>
              <a:t>Safe by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img-07wqk1ho.png"/>
          <p:cNvPicPr>
            <a:picLocks noChangeAspect="1"/>
          </p:cNvPicPr>
          <p:nvPr/>
        </p:nvPicPr>
        <p:blipFill>
          <a:blip r:embed="rId2"/>
          <a:srcRect t="4" b="4"/>
          <a:stretch>
            <a:fillRect/>
          </a:stretch>
        </p:blipFill>
        <p:spPr>
          <a:xfrm>
            <a:off x="6583680" y="0"/>
            <a:ext cx="560832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LEDGERPILOT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84992" y="6449812"/>
            <a:ext cx="548640" cy="22585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FFFFFF"/>
                </a:solidFill>
                <a:latin typeface="Montserrat"/>
                <a:cs typeface="Montserrat"/>
                <a:sym typeface="Montserrat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0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FFFFFF"/>
                </a:solidFill>
                <a:latin typeface="Montserrat"/>
                <a:cs typeface="Montserrat"/>
                <a:sym typeface="Montserrat"/>
              </a:rPr>
              <a:t>GITHUB.COM/TAKU629/LEDGERPILOT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29622"/>
            <a:ext cx="5266944" cy="213543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0112"/>
              </a:lnSpc>
            </a:pPr>
            <a:r>
              <a:rPr sz="4400" b="0">
                <a:solidFill>
                  <a:srgbClr val="0B0B0C"/>
                </a:solidFill>
                <a:latin typeface="Montserrat Bold"/>
                <a:cs typeface="Montserrat Bold"/>
                <a:sym typeface="Montserrat Bold"/>
              </a:rPr>
              <a:t>Propose, enforce, approve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67405"/>
            <a:ext cx="5266944" cy="86750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9434"/>
              </a:lnSpc>
            </a:pPr>
            <a:r>
              <a:rPr sz="1800" b="1">
                <a:solidFill>
                  <a:srgbClr val="0077FC"/>
                </a:solidFill>
                <a:latin typeface="Montserrat"/>
                <a:cs typeface="Montserrat"/>
                <a:sym typeface="Montserrat"/>
              </a:rPr>
              <a:t>No text</a:t>
            </a:r>
            <a:r>
              <a:rPr sz="1800" b="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, tool output or LLM reply can mint an approval.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5568" y="960120"/>
            <a:ext cx="4937760" cy="4937760"/>
          </a:xfrm>
          <a:prstGeom prst="rect">
            <a:avLst/>
          </a:prstGeom>
          <a:gradFill rotWithShape="1">
            <a:gsLst>
              <a:gs pos="0">
                <a:srgbClr val="D1E7FE"/>
              </a:gs>
              <a:gs pos="100000">
                <a:srgbClr val="FFFFFF"/>
              </a:gs>
            </a:gsLst>
            <a:lin scaled="0" ang="12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58368" y="3227155"/>
            <a:ext cx="1043970" cy="18288"/>
          </a:xfrm>
          <a:prstGeom prst="rect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454908" y="3227155"/>
            <a:ext cx="1043970" cy="18288"/>
          </a:xfrm>
          <a:prstGeom prst="rect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251448" y="3227155"/>
            <a:ext cx="1043970" cy="18288"/>
          </a:xfrm>
          <a:prstGeom prst="rect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047988" y="3227155"/>
            <a:ext cx="1043970" cy="18288"/>
          </a:xfrm>
          <a:prstGeom prst="rect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LEDGERPILOT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992" y="6449812"/>
            <a:ext cx="548640" cy="22585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GITHUB.COM/TAKU629/LEDGERPILOT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62595"/>
            <a:ext cx="7830190" cy="7118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0112"/>
              </a:lnSpc>
            </a:pPr>
            <a:r>
              <a:rPr sz="4400" b="0">
                <a:solidFill>
                  <a:srgbClr val="0B0B0C"/>
                </a:solidFill>
                <a:latin typeface="Montserrat Bold"/>
                <a:cs typeface="Montserrat Bold"/>
                <a:sym typeface="Montserrat Bold"/>
              </a:rPr>
              <a:t>Four layers of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52928"/>
            <a:ext cx="248564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2000" b="1" spc="160">
                <a:solidFill>
                  <a:srgbClr val="0077FC"/>
                </a:solidFill>
                <a:latin typeface="Montserrat"/>
                <a:cs typeface="Montserrat"/>
                <a:sym typeface="Montserrat"/>
              </a:rPr>
              <a:t>TIERS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373459"/>
            <a:ext cx="2485644" cy="13012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9434"/>
              </a:lnSpc>
            </a:pPr>
            <a:r>
              <a:rPr sz="1800" b="0">
                <a:solidFill>
                  <a:srgbClr val="0B0B0C"/>
                </a:solidFill>
                <a:latin typeface="Montserrat"/>
                <a:cs typeface="Montserrat"/>
                <a:sym typeface="Montserrat"/>
              </a:rPr>
              <a:t>Read, draft, sandbox. </a:t>
            </a:r>
            <a:r>
              <a:rPr sz="1800" b="1">
                <a:solidFill>
                  <a:srgbClr val="E5484D"/>
                </a:solidFill>
                <a:latin typeface="Montserrat"/>
                <a:cs typeface="Montserrat"/>
                <a:sym typeface="Montserrat"/>
              </a:rPr>
              <a:t>Real money disabled</a:t>
            </a:r>
            <a:r>
              <a:rPr sz="1800" b="0">
                <a:solidFill>
                  <a:srgbClr val="0B0B0C"/>
                </a:solidFill>
                <a:latin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4908" y="2852928"/>
            <a:ext cx="248564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2000" b="1" spc="160">
                <a:solidFill>
                  <a:srgbClr val="0077FC"/>
                </a:solidFill>
                <a:latin typeface="Montserrat"/>
                <a:cs typeface="Montserrat"/>
                <a:sym typeface="Montserrat"/>
              </a:rPr>
              <a:t>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4908" y="3373459"/>
            <a:ext cx="2485644" cy="86750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9434"/>
              </a:lnSpc>
            </a:pPr>
            <a:r>
              <a:rPr sz="1800" b="1">
                <a:solidFill>
                  <a:srgbClr val="0077FC"/>
                </a:solidFill>
                <a:latin typeface="Montserrat"/>
                <a:cs typeface="Montserrat"/>
                <a:sym typeface="Montserrat"/>
              </a:rPr>
              <a:t>Single-use</a:t>
            </a:r>
            <a:r>
              <a:rPr sz="1800" b="0">
                <a:solidFill>
                  <a:srgbClr val="0B0B0C"/>
                </a:solidFill>
                <a:latin typeface="Montserrat"/>
                <a:cs typeface="Montserrat"/>
                <a:sym typeface="Montserrat"/>
              </a:rPr>
              <a:t> approval tokens.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1448" y="2852928"/>
            <a:ext cx="248564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2000" b="1" spc="160">
                <a:solidFill>
                  <a:srgbClr val="0077FC"/>
                </a:solidFill>
                <a:latin typeface="Montserrat"/>
                <a:cs typeface="Montserrat"/>
                <a:sym typeface="Montserrat"/>
              </a:rPr>
              <a:t>INJECTION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1448" y="3373459"/>
            <a:ext cx="2485644" cy="13012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9434"/>
              </a:lnSpc>
            </a:pPr>
            <a:r>
              <a:rPr sz="1800" b="0">
                <a:solidFill>
                  <a:srgbClr val="0B0B0C"/>
                </a:solidFill>
                <a:latin typeface="Montserrat"/>
                <a:cs typeface="Montserrat"/>
                <a:sym typeface="Montserrat"/>
              </a:rPr>
              <a:t>Data flagged </a:t>
            </a:r>
            <a:r>
              <a:rPr sz="1800" b="1">
                <a:solidFill>
                  <a:srgbClr val="0077FC"/>
                </a:solidFill>
                <a:latin typeface="Montserrat"/>
                <a:cs typeface="Montserrat"/>
                <a:sym typeface="Montserrat"/>
              </a:rPr>
              <a:t>untrusted</a:t>
            </a:r>
            <a:r>
              <a:rPr sz="1800" b="0">
                <a:solidFill>
                  <a:srgbClr val="0B0B0C"/>
                </a:solidFill>
                <a:latin typeface="Montserrat"/>
                <a:cs typeface="Montserrat"/>
                <a:sym typeface="Montserrat"/>
              </a:rPr>
              <a:t>, alert raised.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7988" y="2852928"/>
            <a:ext cx="248564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2000" b="1" spc="160">
                <a:solidFill>
                  <a:srgbClr val="0077FC"/>
                </a:solidFill>
                <a:latin typeface="Montserrat"/>
                <a:cs typeface="Montserrat"/>
                <a:sym typeface="Montserrat"/>
              </a:rPr>
              <a:t>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7988" y="3373459"/>
            <a:ext cx="2485644" cy="173501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9434"/>
              </a:lnSpc>
            </a:pPr>
            <a:r>
              <a:rPr sz="1800" b="1">
                <a:solidFill>
                  <a:srgbClr val="0077FC"/>
                </a:solidFill>
                <a:latin typeface="Montserrat"/>
                <a:cs typeface="Montserrat"/>
                <a:sym typeface="Montserrat"/>
              </a:rPr>
              <a:t>PII-masked</a:t>
            </a:r>
            <a:r>
              <a:rPr sz="1800" b="0">
                <a:solidFill>
                  <a:srgbClr val="0B0B0C"/>
                </a:solidFill>
                <a:latin typeface="Montserrat"/>
                <a:cs typeface="Montserrat"/>
                <a:sym typeface="Montserrat"/>
              </a:rPr>
              <a:t> log of every call. Strict CSP, rate limits.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ckimg-ev957yfa.png"/>
          <p:cNvPicPr>
            <a:picLocks noChangeAspect="1"/>
          </p:cNvPicPr>
          <p:nvPr/>
        </p:nvPicPr>
        <p:blipFill>
          <a:blip r:embed="rId2"/>
          <a:srcRect t="4" b="4"/>
          <a:stretch>
            <a:fillRect/>
          </a:stretch>
        </p:blipFill>
        <p:spPr>
          <a:xfrm>
            <a:off x="0" y="0"/>
            <a:ext cx="560832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1200" b="1" spc="160">
                <a:solidFill>
                  <a:srgbClr val="FFFFFF"/>
                </a:solidFill>
                <a:latin typeface="Montserrat"/>
                <a:cs typeface="Montserrat"/>
                <a:sym typeface="Montserrat"/>
              </a:rPr>
              <a:t>LEDGERPILOT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84992" y="6449812"/>
            <a:ext cx="548640" cy="22585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0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GITHUB.COM/TAKU629/LEDGERPILOT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6688" y="2341821"/>
            <a:ext cx="5266944" cy="142362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0112"/>
              </a:lnSpc>
            </a:pPr>
            <a:r>
              <a:rPr sz="4400" b="0">
                <a:solidFill>
                  <a:srgbClr val="0B0B0C"/>
                </a:solidFill>
                <a:latin typeface="Montserrat Bold"/>
                <a:cs typeface="Montserrat Bold"/>
                <a:sym typeface="Montserrat Bold"/>
              </a:rPr>
              <a:t>Injection caught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6688" y="3755206"/>
            <a:ext cx="5266944" cy="86750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9434"/>
              </a:lnSpc>
            </a:pPr>
            <a:r>
              <a:rPr sz="1800" b="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Seeded in the demo data and shown live as an </a:t>
            </a:r>
            <a:r>
              <a:rPr sz="1800" b="1">
                <a:solidFill>
                  <a:srgbClr val="E5484D"/>
                </a:solidFill>
                <a:latin typeface="Montserrat"/>
                <a:cs typeface="Montserrat"/>
                <a:sym typeface="Montserrat"/>
              </a:rPr>
              <a:t>INJECTION_ATTEMPT</a:t>
            </a:r>
            <a:r>
              <a:rPr sz="1800" b="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 alert.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5568" y="960120"/>
            <a:ext cx="4937760" cy="4937760"/>
          </a:xfrm>
          <a:prstGeom prst="rect">
            <a:avLst/>
          </a:prstGeom>
          <a:gradFill rotWithShape="1">
            <a:gsLst>
              <a:gs pos="0">
                <a:srgbClr val="D1E7FE"/>
              </a:gs>
              <a:gs pos="100000">
                <a:srgbClr val="FFFFFF"/>
              </a:gs>
            </a:gsLst>
            <a:lin scaled="0" ang="12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1200" b="1" spc="160">
                <a:solidFill>
                  <a:srgbClr val="000000"/>
                </a:solidFill>
                <a:latin typeface="Montserrat"/>
                <a:cs typeface="Montserrat"/>
                <a:sym typeface="Montserrat"/>
              </a:rPr>
              <a:t>LEDGERPILOT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992" y="6449812"/>
            <a:ext cx="548640" cy="22585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000000"/>
                </a:solidFill>
                <a:latin typeface="Montserrat"/>
                <a:cs typeface="Montserrat"/>
                <a:sym typeface="Montserrat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000000"/>
                </a:solidFill>
                <a:latin typeface="Montserrat"/>
                <a:cs typeface="Montserrat"/>
                <a:sym typeface="Montserrat"/>
              </a:rPr>
              <a:t>GITHUB.COM/TAKU629/LEDGERPILOT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81394"/>
            <a:ext cx="8917716" cy="120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600" b="0">
                <a:solidFill>
                  <a:srgbClr val="FFFFFF"/>
                </a:solidFill>
                <a:latin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868567"/>
            <a:ext cx="8917716" cy="8565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5200" b="0">
                <a:solidFill>
                  <a:srgbClr val="FFFFFF"/>
                </a:solidFill>
                <a:latin typeface="Montserrat Bold"/>
                <a:cs typeface="Montserrat Bold"/>
                <a:sym typeface="Montserrat Bold"/>
              </a:rPr>
              <a:t>Live demo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5568" y="960120"/>
            <a:ext cx="4937760" cy="4937760"/>
          </a:xfrm>
          <a:prstGeom prst="rect">
            <a:avLst/>
          </a:prstGeom>
          <a:gradFill rotWithShape="1">
            <a:gsLst>
              <a:gs pos="0">
                <a:srgbClr val="D1E7FE"/>
              </a:gs>
              <a:gs pos="100000">
                <a:srgbClr val="FFFFFF"/>
              </a:gs>
            </a:gsLst>
            <a:lin scaled="0" ang="12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58368" y="3227155"/>
            <a:ext cx="1043970" cy="18288"/>
          </a:xfrm>
          <a:prstGeom prst="rect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454908" y="3227155"/>
            <a:ext cx="1043970" cy="18288"/>
          </a:xfrm>
          <a:prstGeom prst="rect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251448" y="3227155"/>
            <a:ext cx="1043970" cy="18288"/>
          </a:xfrm>
          <a:prstGeom prst="rect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047988" y="3227155"/>
            <a:ext cx="1043970" cy="18288"/>
          </a:xfrm>
          <a:prstGeom prst="rect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LEDGERPILOT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4992" y="6449812"/>
            <a:ext cx="548640" cy="22585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GITHUB.COM/TAKU629/LEDGERPILOT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62595"/>
            <a:ext cx="7830190" cy="7118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0112"/>
              </a:lnSpc>
            </a:pPr>
            <a:r>
              <a:rPr sz="4400" b="0">
                <a:solidFill>
                  <a:srgbClr val="0B0B0C"/>
                </a:solidFill>
                <a:latin typeface="Montserrat Bold"/>
                <a:cs typeface="Montserrat Bold"/>
                <a:sym typeface="Montserrat Bold"/>
              </a:rPr>
              <a:t>Four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52928"/>
            <a:ext cx="248564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2000" b="1" spc="160">
                <a:solidFill>
                  <a:srgbClr val="0077FC"/>
                </a:solidFill>
                <a:latin typeface="Montserrat"/>
                <a:cs typeface="Montserrat"/>
                <a:sym typeface="Montserrat"/>
              </a:rPr>
              <a:t>FORECAST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373459"/>
            <a:ext cx="2485644" cy="13012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9434"/>
              </a:lnSpc>
            </a:pPr>
            <a:r>
              <a:rPr sz="1800" b="0">
                <a:solidFill>
                  <a:srgbClr val="0B0B0C"/>
                </a:solidFill>
                <a:latin typeface="Montserrat"/>
                <a:cs typeface="Montserrat"/>
                <a:sym typeface="Montserrat"/>
              </a:rPr>
              <a:t>Gap found in </a:t>
            </a:r>
            <a:r>
              <a:rPr sz="1800" b="1">
                <a:solidFill>
                  <a:srgbClr val="0077FC"/>
                </a:solidFill>
                <a:latin typeface="Montserrat"/>
                <a:cs typeface="Montserrat"/>
                <a:sym typeface="Montserrat"/>
              </a:rPr>
              <a:t>week 2</a:t>
            </a:r>
            <a:r>
              <a:rPr sz="1800" b="0">
                <a:solidFill>
                  <a:srgbClr val="0B0B0C"/>
                </a:solidFill>
                <a:latin typeface="Montserrat"/>
                <a:cs typeface="Montserrat"/>
                <a:sym typeface="Montserrat"/>
              </a:rPr>
              <a:t>, drill into the rows.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4908" y="2852928"/>
            <a:ext cx="248564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2000" b="1" spc="160">
                <a:solidFill>
                  <a:srgbClr val="0077FC"/>
                </a:solidFill>
                <a:latin typeface="Montserrat"/>
                <a:cs typeface="Montserrat"/>
                <a:sym typeface="Montserrat"/>
              </a:rPr>
              <a:t>FINANCING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4908" y="3373459"/>
            <a:ext cx="2485644" cy="13012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9434"/>
              </a:lnSpc>
            </a:pPr>
            <a:r>
              <a:rPr sz="1800" b="0">
                <a:solidFill>
                  <a:srgbClr val="0B0B0C"/>
                </a:solidFill>
                <a:latin typeface="Montserrat"/>
                <a:cs typeface="Montserrat"/>
                <a:sym typeface="Montserrat"/>
              </a:rPr>
              <a:t>Ranked options with reasons for rejections.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1448" y="2852928"/>
            <a:ext cx="248564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2000" b="1" spc="160">
                <a:solidFill>
                  <a:srgbClr val="0077FC"/>
                </a:solidFill>
                <a:latin typeface="Montserrat"/>
                <a:cs typeface="Montserrat"/>
                <a:sym typeface="Montserrat"/>
              </a:rPr>
              <a:t>WHAT-IF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1448" y="3373459"/>
            <a:ext cx="2485644" cy="13012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9434"/>
              </a:lnSpc>
            </a:pPr>
            <a:r>
              <a:rPr sz="1800" b="1">
                <a:solidFill>
                  <a:srgbClr val="E5484D"/>
                </a:solidFill>
                <a:latin typeface="Montserrat"/>
                <a:cs typeface="Montserrat"/>
                <a:sym typeface="Montserrat"/>
              </a:rPr>
              <a:t>Sales down 20%</a:t>
            </a:r>
            <a:r>
              <a:rPr sz="1800" b="0">
                <a:solidFill>
                  <a:srgbClr val="0B0B0C"/>
                </a:solidFill>
                <a:latin typeface="Montserrat"/>
                <a:cs typeface="Montserrat"/>
                <a:sym typeface="Montserrat"/>
              </a:rPr>
              <a:t> recomputes </a:t>
            </a:r>
            <a:r>
              <a:rPr sz="1800" b="1">
                <a:solidFill>
                  <a:srgbClr val="0077FC"/>
                </a:solidFill>
                <a:latin typeface="Montserrat"/>
                <a:cs typeface="Montserrat"/>
                <a:sym typeface="Montserrat"/>
              </a:rPr>
              <a:t>instantly</a:t>
            </a:r>
            <a:r>
              <a:rPr sz="1800" b="0">
                <a:solidFill>
                  <a:srgbClr val="0B0B0C"/>
                </a:solidFill>
                <a:latin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7988" y="2852928"/>
            <a:ext cx="2485644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2000" b="1" spc="160">
                <a:solidFill>
                  <a:srgbClr val="0077FC"/>
                </a:solidFill>
                <a:latin typeface="Montserrat"/>
                <a:cs typeface="Montserrat"/>
                <a:sym typeface="Montserrat"/>
              </a:rPr>
              <a:t>APPROVE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7988" y="3373459"/>
            <a:ext cx="2485644" cy="173501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9434"/>
              </a:lnSpc>
            </a:pPr>
            <a:r>
              <a:rPr sz="1800" b="0">
                <a:solidFill>
                  <a:srgbClr val="0B0B0C"/>
                </a:solidFill>
                <a:latin typeface="Montserrat"/>
                <a:cs typeface="Montserrat"/>
                <a:sym typeface="Montserrat"/>
              </a:rPr>
              <a:t>Reschedule equipment, approve, chart re-projects.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5568" y="960120"/>
            <a:ext cx="4937760" cy="4937760"/>
          </a:xfrm>
          <a:prstGeom prst="rect">
            <a:avLst/>
          </a:prstGeom>
          <a:gradFill rotWithShape="1">
            <a:gsLst>
              <a:gs pos="0">
                <a:srgbClr val="D1E7FE"/>
              </a:gs>
              <a:gs pos="100000">
                <a:srgbClr val="FFFFFF"/>
              </a:gs>
            </a:gsLst>
            <a:lin scaled="0" ang="12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58368" y="3103672"/>
            <a:ext cx="1081999" cy="25603"/>
          </a:xfrm>
          <a:prstGeom prst="rect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405376" y="3103672"/>
            <a:ext cx="1081999" cy="25603"/>
          </a:xfrm>
          <a:prstGeom prst="rect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152384" y="3103672"/>
            <a:ext cx="1081999" cy="25603"/>
          </a:xfrm>
          <a:prstGeom prst="rect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LEDGERPILOT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84992" y="6449812"/>
            <a:ext cx="548640" cy="22585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GITHUB.COM/TAKU629/LEDGERPILOT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40364"/>
            <a:ext cx="7830190" cy="7118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0112"/>
              </a:lnSpc>
            </a:pPr>
            <a:r>
              <a:rPr sz="4400" b="0">
                <a:solidFill>
                  <a:srgbClr val="0B0B0C"/>
                </a:solidFill>
                <a:latin typeface="Montserrat Bold"/>
                <a:cs typeface="Montserrat Bold"/>
                <a:sym typeface="Montserrat Bold"/>
              </a:rPr>
              <a:t>Built to be checked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323128"/>
            <a:ext cx="3381248" cy="120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600" b="0">
                <a:solidFill>
                  <a:srgbClr val="0077FC"/>
                </a:solidFill>
                <a:latin typeface="Montserrat Bold"/>
                <a:cs typeface="Montserrat Bold"/>
                <a:sym typeface="Montserrat Bold"/>
              </a:rPr>
              <a:t>111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437150"/>
            <a:ext cx="3381248" cy="4337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9434"/>
              </a:lnSpc>
            </a:pPr>
            <a:r>
              <a:rPr sz="1800" b="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Automated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5376" y="3323128"/>
            <a:ext cx="3381248" cy="120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600" b="0">
                <a:solidFill>
                  <a:srgbClr val="0077FC"/>
                </a:solidFill>
                <a:latin typeface="Montserrat Bold"/>
                <a:cs typeface="Montserrat Bold"/>
                <a:sym typeface="Montserrat Bold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5376" y="4437150"/>
            <a:ext cx="3381248" cy="4337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9434"/>
              </a:lnSpc>
            </a:pPr>
            <a:r>
              <a:rPr sz="1800" b="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Tier-checked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2384" y="3323128"/>
            <a:ext cx="3381248" cy="120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88496"/>
              </a:lnSpc>
            </a:pPr>
            <a:r>
              <a:rPr sz="7600" b="0">
                <a:solidFill>
                  <a:srgbClr val="0077FC"/>
                </a:solidFill>
                <a:latin typeface="Montserrat Bold"/>
                <a:cs typeface="Montserrat Bold"/>
                <a:sym typeface="Montserrat Bold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2384" y="4437150"/>
            <a:ext cx="3381248" cy="4337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9434"/>
              </a:lnSpc>
            </a:pPr>
            <a:r>
              <a:rPr sz="1800" b="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Secrets needed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5568" y="960120"/>
            <a:ext cx="4937760" cy="4937760"/>
          </a:xfrm>
          <a:prstGeom prst="rect">
            <a:avLst/>
          </a:prstGeom>
          <a:gradFill rotWithShape="1">
            <a:gsLst>
              <a:gs pos="0">
                <a:srgbClr val="D1E7FE"/>
              </a:gs>
              <a:gs pos="100000">
                <a:srgbClr val="FFFFFF"/>
              </a:gs>
            </a:gsLst>
            <a:lin scaled="0" ang="120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58368" y="1455725"/>
            <a:ext cx="1005840" cy="25603"/>
          </a:xfrm>
          <a:prstGeom prst="rect">
            <a:avLst/>
          </a:prstGeom>
          <a:solidFill>
            <a:srgbClr val="007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LEDGERPILOT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84992" y="6449812"/>
            <a:ext cx="548640" cy="22585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342351"/>
            <a:ext cx="54376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6496"/>
              </a:lnSpc>
            </a:pPr>
            <a:r>
              <a:rPr sz="1200" b="1" spc="16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GITHUB.COM/TAKU629/LEDGERPILOT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66621"/>
            <a:ext cx="8047695" cy="17130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1750"/>
              </a:lnSpc>
            </a:pPr>
            <a:r>
              <a:rPr sz="5200" b="0">
                <a:solidFill>
                  <a:srgbClr val="0B0B0C"/>
                </a:solidFill>
                <a:latin typeface="Montserrat Bold"/>
                <a:cs typeface="Montserrat Bold"/>
                <a:sym typeface="Montserrat Bold"/>
              </a:rPr>
              <a:t>Owner approves every move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598486"/>
            <a:ext cx="5981395" cy="150010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2880"/>
              </a:lnSpc>
            </a:pPr>
            <a:r>
              <a:rPr sz="2200" b="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Next: real bank adapters, multi-entity support and lender-ready audit trails.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285232"/>
            <a:ext cx="52090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1200" b="1" spc="160">
                <a:solidFill>
                  <a:srgbClr val="0B0B0C"/>
                </a:solidFill>
                <a:latin typeface="Montserrat"/>
                <a:cs typeface="Montserrat"/>
                <a:sym typeface="Montserrat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577924"/>
            <a:ext cx="5209032" cy="4337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9434"/>
              </a:lnSpc>
            </a:pPr>
            <a:r>
              <a:rPr sz="1800" b="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ledgerpilot-7k6f.onrender.com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5285232"/>
            <a:ext cx="5209032" cy="22942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496"/>
              </a:lnSpc>
            </a:pPr>
            <a:r>
              <a:rPr sz="1200" b="1" spc="160">
                <a:solidFill>
                  <a:srgbClr val="0B0B0C"/>
                </a:solidFill>
                <a:latin typeface="Montserrat"/>
                <a:cs typeface="Montserrat"/>
                <a:sym typeface="Montserrat"/>
              </a:rP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5577924"/>
            <a:ext cx="5209032" cy="4337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9434"/>
              </a:lnSpc>
            </a:pPr>
            <a:r>
              <a:rPr sz="1800" b="0">
                <a:solidFill>
                  <a:srgbClr val="606061"/>
                </a:solidFill>
                <a:latin typeface="Montserrat"/>
                <a:cs typeface="Montserrat"/>
                <a:sym typeface="Montserrat"/>
              </a:rPr>
              <a:t>github.com/taku629/ledgerpilot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